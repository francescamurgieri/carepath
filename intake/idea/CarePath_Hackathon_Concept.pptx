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8400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[Sources],Visuale generata con OpenAI Image Generation per questo deck. Claim e concept sono elaborazione progettuale.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[Sources],JMIR Aging scoping review 2026: le barriere alla digital literacy degli older adults includono limiti di salute, support network, ease of use, conoscenza/informazione, percezione e risorse: https://aging.jmir.org/2026/1/e80647,European Digital Skills &amp; Jobs Platform, 2026: il digital divide nella fascia 65–74 persiste e non riguarda solo accesso ma anche qualità dell’uso e competenze: https://digital-skills-jobs.europa.eu/en/latest/research/digital-divide-later-life-ict-education-and-digital-skills-elderly-eu,Visuale generata con OpenAI Image Generation per questo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[Sources],Regione Lombardia Portale Prenotazioni indica che per prenotare online servono ricetta elettronica e tessera sanitaria, e descrive codici ricetta per ricetta rossa/dematerializzata: https://www.prenotasalute.regione.lombardia.it/sito/,Insight e formulazioni sono elaborazione progettuale.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[Sources],CarePath è proposto come layer di accessibilità integrabile sopra sistemi di prenotazione esistenti.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[Sources],Flow MVP elaborato per demo hackathon.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[Sources],MVP definito per massimizzare una demo di 2–3 minuti senza dipendere da integrazioni reali.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[Sources],Stack e architettura proposti per prototipo hackathon. Guardrail: il progetto non fa diagnosi o triage clinico, ma supporta comprensione e prenotazione.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[Sources],Hyro describes AI agents for healthcare call center, scheduling and patient access, including scheduling management and routine task automation: https://www.hyro.ai/healthcare/,TuoTempo describes online booking, AI Voice Assistant and call-center load reduction for healthcare organizations: https://www.tuotempo.it/ and https://www.tuotempo.it/prodotti/voice-assistant,Infermedica + Hyro partnership page describes symptom assessment/triage and navigation to right physician and appointments: https://infermedica.com/partners/hyro,Regione Lombardia PrenotaSalute describes online booking for visits/exams with ricetta elettronica and tessera sanitaria: https://www.prenotasalute.regione.lombardia.it/sito/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[Sources],Storyboard demo progettato per un hackathon con mock di ricetta e mock availability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[Sources],Chiusura e proposta di validazione elaborata per hackathon.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lean_modern_illustration_commercial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12648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58368" y="749808"/>
            <a:ext cx="1508760" cy="320040"/>
          </a:xfrm>
          <a:prstGeom prst="roundRect">
            <a:avLst>
              <a:gd name="adj" fmla="val 22857"/>
            </a:avLst>
          </a:prstGeom>
          <a:solidFill>
            <a:srgbClr val="11324D"/>
          </a:solidFill>
          <a:ln w="12700">
            <a:solidFill>
              <a:srgbClr val="11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68096" y="822960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HACKATHON CONCEPT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58368" y="1417320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1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CarePath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85800" y="214884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7212B"/>
                </a:solidFill>
              </a:rPr>
              <a:t>L’accessibility layer per prenotare visite mediche senza perdersi nei form.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713232" y="3401568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6875"/>
                </a:solidFill>
              </a:rPr>
              <a:t>Foto della ricetta → AI interpreta → percorso guidato → conferma chiara.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8A8"/>
                </a:solidFill>
              </a:rPr>
              <a:t>CarePath · Hackathon concept · 1/10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Il problema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875"/>
                </a:solidFill>
              </a:rPr>
              <a:t>Il digitale sposta efficienza sul sistema, ma spesso trasferisce complessità al paziente.</a:t>
            </a:r>
            <a:endParaRPr lang="en-US" sz="1050" dirty="0"/>
          </a:p>
        </p:txBody>
      </p:sp>
      <p:pic>
        <p:nvPicPr>
          <p:cNvPr id="4" name="Image 0" descr="/mnt/data/carepath_assets/anna_cro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325880"/>
            <a:ext cx="5074920" cy="4754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" y="1490472"/>
            <a:ext cx="4892040" cy="4133088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12700">
            <a:solidFill>
              <a:srgbClr val="F0DDC1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87552" y="17922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88E5"/>
                </a:solidFill>
              </a:rPr>
              <a:t>USER PAIN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987552" y="2130552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1324D"/>
                </a:solidFill>
              </a:rPr>
              <a:t>Una prescrizione non diventa automaticamente una prenotazione.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051560" y="2999232"/>
            <a:ext cx="3931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</a:rPr>
              <a:t>• Termini: NRE, branca, priorità, regime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51560" y="3474720"/>
            <a:ext cx="3931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</a:rPr>
              <a:t>• Campi lunghi e messaggi di errore opachi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51560" y="3950208"/>
            <a:ext cx="3931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</a:rPr>
              <a:t>• Scelte difficili: prima data, distanza, struttura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4425696"/>
            <a:ext cx="3931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</a:rPr>
              <a:t>• Paura di confermare qualcosa di sbagliato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87552" y="50566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8E5"/>
                </a:solidFill>
              </a:rPr>
              <a:t>Insight: non è “l’anziano non sa usare il digitale”. È il carico cognitivo imposto dal servizio.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9436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8A8"/>
                </a:solidFill>
              </a:rPr>
              <a:t>CarePath · Hackathon concept · 2/10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frizione nasce dalla traduzione mancata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875"/>
                </a:solidFill>
              </a:rPr>
              <a:t>Il CUP ragiona per campi amministrativi. Il paziente ragiona per bisogno.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480060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DCE7F1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9751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88E5"/>
                </a:solidFill>
              </a:rPr>
              <a:t>COME PARLA IL SISTEMA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05840" y="24231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212B"/>
                </a:solidFill>
              </a:rPr>
              <a:t>Prestazione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8620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212B"/>
                </a:solidFill>
              </a:rPr>
              <a:t>Branca specialistica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3009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212B"/>
                </a:solidFill>
              </a:rPr>
              <a:t>NRE / Ricetta elettronica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7398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212B"/>
                </a:solidFill>
              </a:rPr>
              <a:t>Classe di priorità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41788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212B"/>
                </a:solidFill>
              </a:rPr>
              <a:t>Struttura erogatrice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46177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212B"/>
                </a:solidFill>
              </a:rPr>
              <a:t>Agenda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87568" y="3611880"/>
            <a:ext cx="804672" cy="0"/>
          </a:xfrm>
          <a:prstGeom prst="line">
            <a:avLst/>
          </a:prstGeom>
          <a:noFill/>
          <a:ln w="21590">
            <a:solidFill>
              <a:srgbClr val="FFB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720840" y="1645920"/>
            <a:ext cx="480060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DCE7F1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040880" y="19751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88E5"/>
                </a:solidFill>
              </a:rPr>
              <a:t>COME PARLA IL PAZIENTE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059168" y="260604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1324D"/>
                </a:solidFill>
              </a:rPr>
              <a:t>“Il medico mi ha prescritto questa visita. Voglio farla il prima possibile, non troppo lontano da casa.”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059168" y="4617720"/>
            <a:ext cx="3337560" cy="621792"/>
          </a:xfrm>
          <a:prstGeom prst="roundRect">
            <a:avLst>
              <a:gd name="adj" fmla="val 7353"/>
            </a:avLst>
          </a:prstGeom>
          <a:solidFill>
            <a:srgbClr val="EAF7FF"/>
          </a:solidFill>
          <a:ln w="12700">
            <a:solidFill>
              <a:srgbClr val="CCE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296912" y="4809744"/>
            <a:ext cx="27432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E88E5"/>
                </a:solidFill>
              </a:rPr>
              <a:t>CarePath = traduttore operativo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436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8A8"/>
                </a:solidFill>
              </a:rPr>
              <a:t>CarePath · Hackathon concept · 3/10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soluzione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875"/>
                </a:solidFill>
              </a:rPr>
              <a:t>Un layer accessibile sopra i sistemi esistenti, non un nuovo CUP.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13232" y="1417320"/>
            <a:ext cx="2834640" cy="4434840"/>
          </a:xfrm>
          <a:prstGeom prst="roundRect">
            <a:avLst>
              <a:gd name="adj" fmla="val 2581"/>
            </a:avLst>
          </a:prstGeom>
          <a:solidFill>
            <a:srgbClr val="F9FCFF"/>
          </a:solidFill>
          <a:ln w="12700">
            <a:solidFill>
              <a:srgbClr val="DCE7F1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663440" y="1417320"/>
            <a:ext cx="2834640" cy="4434840"/>
          </a:xfrm>
          <a:prstGeom prst="roundRect">
            <a:avLst>
              <a:gd name="adj" fmla="val 2581"/>
            </a:avLst>
          </a:prstGeom>
          <a:solidFill>
            <a:srgbClr val="F9FCFF"/>
          </a:solidFill>
          <a:ln w="12700">
            <a:solidFill>
              <a:srgbClr val="DCE7F1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595360" y="1417320"/>
            <a:ext cx="2834640" cy="4434840"/>
          </a:xfrm>
          <a:prstGeom prst="roundRect">
            <a:avLst>
              <a:gd name="adj" fmla="val 2581"/>
            </a:avLst>
          </a:prstGeom>
          <a:solidFill>
            <a:srgbClr val="F9FCFF"/>
          </a:solidFill>
          <a:ln w="12700">
            <a:solidFill>
              <a:srgbClr val="DCE7F1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87552" y="17373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88E5"/>
                </a:solidFill>
              </a:rPr>
              <a:t>INPUT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956048" y="17373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88E5"/>
                </a:solidFill>
              </a:rPr>
              <a:t>CAREPATH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897112" y="17373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88E5"/>
                </a:solidFill>
              </a:rPr>
              <a:t>OUTPUT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05840" y="22860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324D"/>
                </a:solidFill>
              </a:rPr>
              <a:t>Foto ricetta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1324D"/>
                </a:solidFill>
              </a:rPr>
              <a:t>Voce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1324D"/>
                </a:solidFill>
              </a:rPr>
              <a:t>Testo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965192" y="22860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324D"/>
                </a:solidFill>
              </a:rPr>
              <a:t>Riconosce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1324D"/>
                </a:solidFill>
              </a:rPr>
              <a:t>Semplifica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1324D"/>
                </a:solidFill>
              </a:rPr>
              <a:t>Guida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887968" y="22860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324D"/>
                </a:solidFill>
              </a:rPr>
              <a:t>Slot chiari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1324D"/>
                </a:solidFill>
              </a:rPr>
              <a:t>Conferma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1324D"/>
                </a:solidFill>
              </a:rPr>
              <a:t>Promemoria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721608" y="3127248"/>
            <a:ext cx="713232" cy="0"/>
          </a:xfrm>
          <a:prstGeom prst="line">
            <a:avLst/>
          </a:prstGeom>
          <a:noFill/>
          <a:ln w="21590">
            <a:solidFill>
              <a:srgbClr val="1E88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653528" y="3127248"/>
            <a:ext cx="713232" cy="0"/>
          </a:xfrm>
          <a:prstGeom prst="line">
            <a:avLst/>
          </a:prstGeom>
          <a:noFill/>
          <a:ln w="21590">
            <a:solidFill>
              <a:srgbClr val="1E88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05256" y="4343400"/>
            <a:ext cx="2194560" cy="594360"/>
          </a:xfrm>
          <a:prstGeom prst="roundRect">
            <a:avLst>
              <a:gd name="adj" fmla="val 7692"/>
            </a:avLst>
          </a:prstGeom>
          <a:solidFill>
            <a:srgbClr val="FFF3DE"/>
          </a:solidFill>
          <a:ln w="12700">
            <a:solidFill>
              <a:srgbClr val="F7D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78992" y="4553712"/>
            <a:ext cx="18288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212B"/>
                </a:solidFill>
              </a:rPr>
              <a:t>“Carico la ricetta”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92040" y="4343400"/>
            <a:ext cx="2148840" cy="594360"/>
          </a:xfrm>
          <a:prstGeom prst="roundRect">
            <a:avLst>
              <a:gd name="adj" fmla="val 7692"/>
            </a:avLst>
          </a:prstGeom>
          <a:solidFill>
            <a:srgbClr val="EAF7FF"/>
          </a:solidFill>
          <a:ln w="12700">
            <a:solidFill>
              <a:srgbClr val="CCE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56632" y="4553712"/>
            <a:ext cx="18288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212B"/>
                </a:solidFill>
              </a:rPr>
              <a:t>“Ti accompagno”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823960" y="4343400"/>
            <a:ext cx="2148840" cy="594360"/>
          </a:xfrm>
          <a:prstGeom prst="roundRect">
            <a:avLst>
              <a:gd name="adj" fmla="val 7692"/>
            </a:avLst>
          </a:prstGeom>
          <a:solidFill>
            <a:srgbClr val="EAFBF3"/>
          </a:solidFill>
          <a:ln w="12700">
            <a:solidFill>
              <a:srgbClr val="CDE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052560" y="4553712"/>
            <a:ext cx="16459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212B"/>
                </a:solidFill>
              </a:rPr>
              <a:t>“È prenotata”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8A8"/>
                </a:solidFill>
              </a:rPr>
              <a:t>CarePath · Hackathon concept · 4/10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 flow MVP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875"/>
                </a:solidFill>
              </a:rPr>
              <a:t>Ridurre le decisioni a quelle che il paziente può davvero valutare.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481328"/>
            <a:ext cx="2971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7F1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86968" y="1737360"/>
            <a:ext cx="384048" cy="384048"/>
          </a:xfrm>
          <a:prstGeom prst="ellipse">
            <a:avLst/>
          </a:prstGeom>
          <a:solidFill>
            <a:srgbClr val="1E88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837944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435608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324D"/>
                </a:solidFill>
              </a:rPr>
              <a:t>Carica ricetta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35608" y="2139696"/>
            <a:ext cx="18745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D6875"/>
                </a:solidFill>
              </a:rPr>
              <a:t>foto, PDF o NRE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34840" y="1481328"/>
            <a:ext cx="2971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7F1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36008" y="1737360"/>
            <a:ext cx="384048" cy="384048"/>
          </a:xfrm>
          <a:prstGeom prst="ellipse">
            <a:avLst/>
          </a:prstGeom>
          <a:solidFill>
            <a:srgbClr val="1E88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1837944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184648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324D"/>
                </a:solidFill>
              </a:rPr>
              <a:t>AI estrae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84648" y="2139696"/>
            <a:ext cx="18745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D6875"/>
                </a:solidFill>
              </a:rPr>
              <a:t>prestazione + codice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83880" y="1481328"/>
            <a:ext cx="2971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7F1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85048" y="1737360"/>
            <a:ext cx="384048" cy="384048"/>
          </a:xfrm>
          <a:prstGeom prst="ellipse">
            <a:avLst/>
          </a:prstGeom>
          <a:solidFill>
            <a:srgbClr val="2FC4C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503920" y="1837944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933688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324D"/>
                </a:solidFill>
              </a:rPr>
              <a:t>Conferma semplice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33688" y="2139696"/>
            <a:ext cx="18745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D6875"/>
                </a:solidFill>
              </a:rPr>
              <a:t>“È una visita oculistica?”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3538728"/>
            <a:ext cx="2971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7F1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86968" y="3794760"/>
            <a:ext cx="384048" cy="384048"/>
          </a:xfrm>
          <a:prstGeom prst="ellipse">
            <a:avLst/>
          </a:prstGeom>
          <a:solidFill>
            <a:srgbClr val="2FC4C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05840" y="3895344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435608" y="3794760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324D"/>
                </a:solidFill>
              </a:rPr>
              <a:t>Preferenza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35608" y="4197096"/>
            <a:ext cx="18745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D6875"/>
                </a:solidFill>
              </a:rPr>
              <a:t>prima data / vicino / struttura nota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34840" y="3538728"/>
            <a:ext cx="2971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7F1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36008" y="3794760"/>
            <a:ext cx="384048" cy="384048"/>
          </a:xfrm>
          <a:prstGeom prst="ellipse">
            <a:avLst/>
          </a:prstGeom>
          <a:solidFill>
            <a:srgbClr val="43C5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0" y="3895344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184648" y="3794760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324D"/>
                </a:solidFill>
              </a:rPr>
              <a:t>Slot consigliati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84648" y="4197096"/>
            <a:ext cx="18745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D6875"/>
                </a:solidFill>
              </a:rPr>
              <a:t>2–3 alternative chiare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83880" y="3538728"/>
            <a:ext cx="2971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7F1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385048" y="3794760"/>
            <a:ext cx="384048" cy="384048"/>
          </a:xfrm>
          <a:prstGeom prst="ellipse">
            <a:avLst/>
          </a:prstGeom>
          <a:solidFill>
            <a:srgbClr val="43C5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503920" y="3895344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6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933688" y="3794760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324D"/>
                </a:solidFill>
              </a:rPr>
              <a:t>Conferma finale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933688" y="4197096"/>
            <a:ext cx="18745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D6875"/>
                </a:solidFill>
              </a:rPr>
              <a:t>dove, quando, cosa portare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703320" y="2194560"/>
            <a:ext cx="521208" cy="0"/>
          </a:xfrm>
          <a:prstGeom prst="line">
            <a:avLst/>
          </a:prstGeom>
          <a:noFill/>
          <a:ln w="21590">
            <a:solidFill>
              <a:srgbClr val="1E88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452360" y="2194560"/>
            <a:ext cx="521208" cy="0"/>
          </a:xfrm>
          <a:prstGeom prst="line">
            <a:avLst/>
          </a:prstGeom>
          <a:noFill/>
          <a:ln w="21590">
            <a:solidFill>
              <a:srgbClr val="1E88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703320" y="4251960"/>
            <a:ext cx="521208" cy="0"/>
          </a:xfrm>
          <a:prstGeom prst="line">
            <a:avLst/>
          </a:prstGeom>
          <a:noFill/>
          <a:ln w="21590">
            <a:solidFill>
              <a:srgbClr val="1E88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452360" y="4251960"/>
            <a:ext cx="521208" cy="0"/>
          </a:xfrm>
          <a:prstGeom prst="line">
            <a:avLst/>
          </a:prstGeom>
          <a:noFill/>
          <a:ln w="21590">
            <a:solidFill>
              <a:srgbClr val="1E88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9436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8A8"/>
                </a:solidFill>
              </a:rPr>
              <a:t>CarePath · Hackathon concept · 5/10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Funzionalità MVP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875"/>
                </a:solidFill>
              </a:rPr>
              <a:t>Costruire solo ciò che serve per dimostrare valore.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481328"/>
            <a:ext cx="3246120" cy="4389120"/>
          </a:xfrm>
          <a:prstGeom prst="roundRect">
            <a:avLst>
              <a:gd name="adj" fmla="val 2254"/>
            </a:avLst>
          </a:prstGeom>
          <a:solidFill>
            <a:srgbClr val="F3FBF7"/>
          </a:solidFill>
          <a:ln w="12700">
            <a:solidFill>
              <a:srgbClr val="DCE7F1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8105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AA76"/>
                </a:solidFill>
              </a:rPr>
              <a:t>Must have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33272" y="2395728"/>
            <a:ext cx="24231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7212B"/>
                </a:solidFill>
              </a:rPr>
              <a:t>• OCR/vision ricetta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33272" y="2889504"/>
            <a:ext cx="24231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7212B"/>
                </a:solidFill>
              </a:rPr>
              <a:t>• Parsing prestazione + NRE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33272" y="3383280"/>
            <a:ext cx="24231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7212B"/>
                </a:solidFill>
              </a:rPr>
              <a:t>• Conversazione guidata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33272" y="3877056"/>
            <a:ext cx="24231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7212B"/>
                </a:solidFill>
              </a:rPr>
              <a:t>• Mock slot booking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33272" y="4370832"/>
            <a:ext cx="24231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7212B"/>
                </a:solidFill>
              </a:rPr>
              <a:t>• Conferma finale leggibile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44568" y="1481328"/>
            <a:ext cx="3246120" cy="4389120"/>
          </a:xfrm>
          <a:prstGeom prst="roundRect">
            <a:avLst>
              <a:gd name="adj" fmla="val 2254"/>
            </a:avLst>
          </a:prstGeom>
          <a:solidFill>
            <a:srgbClr val="F3FAFF"/>
          </a:solidFill>
          <a:ln w="12700">
            <a:solidFill>
              <a:srgbClr val="DCE7F1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64608" y="18105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88E5"/>
                </a:solidFill>
              </a:rPr>
              <a:t>Should have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92040" y="2395728"/>
            <a:ext cx="24231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7212B"/>
                </a:solidFill>
              </a:rPr>
              <a:t>• Input vocale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92040" y="2889504"/>
            <a:ext cx="24231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7212B"/>
                </a:solidFill>
              </a:rPr>
              <a:t>• Testo grande / contrasto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892040" y="3383280"/>
            <a:ext cx="24231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7212B"/>
                </a:solidFill>
              </a:rPr>
              <a:t>• Spiegazioni “che significa?”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892040" y="3877056"/>
            <a:ext cx="24231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7212B"/>
                </a:solidFill>
              </a:rPr>
              <a:t>• Invio promemoria caregiver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403336" y="1481328"/>
            <a:ext cx="3246120" cy="4389120"/>
          </a:xfrm>
          <a:prstGeom prst="roundRect">
            <a:avLst>
              <a:gd name="adj" fmla="val 2254"/>
            </a:avLst>
          </a:prstGeom>
          <a:solidFill>
            <a:srgbClr val="FFF9EF"/>
          </a:solidFill>
          <a:ln w="12700">
            <a:solidFill>
              <a:srgbClr val="DCE7F1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723376" y="18105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85C"/>
                </a:solidFill>
              </a:rPr>
              <a:t>Nice later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750808" y="2395728"/>
            <a:ext cx="24231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7212B"/>
                </a:solidFill>
              </a:rPr>
              <a:t>• Integrazione SPID/CIE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750808" y="2889504"/>
            <a:ext cx="24231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7212B"/>
                </a:solidFill>
              </a:rPr>
              <a:t>• API CUP reale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750808" y="3383280"/>
            <a:ext cx="24231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7212B"/>
                </a:solidFill>
              </a:rPr>
              <a:t>• TTS completo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750808" y="3877056"/>
            <a:ext cx="24231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7212B"/>
                </a:solidFill>
              </a:rPr>
              <a:t>• Analytics blocchi utente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9436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8A8"/>
                </a:solidFill>
              </a:rPr>
              <a:t>CarePath · Hackathon concept · 6/10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Architettura tecnica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875"/>
                </a:solidFill>
              </a:rPr>
              <a:t>Modulare: front-end accessibile, AI orchestration, integrazione booking simulata o reale.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926080" y="2816352"/>
            <a:ext cx="914400" cy="0"/>
          </a:xfrm>
          <a:prstGeom prst="line">
            <a:avLst/>
          </a:prstGeom>
          <a:noFill/>
          <a:ln w="21590">
            <a:solidFill>
              <a:srgbClr val="1E88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355080" y="2816352"/>
            <a:ext cx="868680" cy="0"/>
          </a:xfrm>
          <a:prstGeom prst="line">
            <a:avLst/>
          </a:prstGeom>
          <a:noFill/>
          <a:ln w="21590">
            <a:solidFill>
              <a:srgbClr val="1E88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464040" y="2816352"/>
            <a:ext cx="640080" cy="0"/>
          </a:xfrm>
          <a:prstGeom prst="line">
            <a:avLst/>
          </a:prstGeom>
          <a:noFill/>
          <a:ln w="21590">
            <a:solidFill>
              <a:srgbClr val="1E88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8368" y="1755648"/>
            <a:ext cx="22402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7F1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886200" y="1554480"/>
            <a:ext cx="2423160" cy="2542032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CE7F1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269480" y="1554480"/>
            <a:ext cx="2148840" cy="2542032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7F1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131552" y="1755648"/>
            <a:ext cx="1417320" cy="21031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7F1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50976" y="20299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88E5"/>
                </a:solidFill>
              </a:rPr>
              <a:t>FRONTEND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60120" y="2468880"/>
            <a:ext cx="15087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324D"/>
                </a:solidFill>
              </a:rPr>
              <a:t>Mobile web</a:t>
            </a:r>
            <a:endParaRPr lang="en-US" sz="1400" dirty="0"/>
          </a:p>
          <a:p>
            <a:pPr marL="0" indent="0">
              <a:buNone/>
            </a:pPr>
            <a:r>
              <a:rPr lang="en-US" sz="1400" b="1">
                <a:solidFill>
                  <a:srgbClr val="11324D"/>
                </a:solidFill>
              </a:rPr>
              <a:t>React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1324D"/>
                </a:solidFill>
              </a:rPr>
              <a:t>Voice UI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87952" y="18653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88E5"/>
                </a:solidFill>
              </a:rPr>
              <a:t>AI LAYER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187952" y="2331720"/>
            <a:ext cx="16002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324D"/>
                </a:solidFill>
              </a:rPr>
              <a:t>Vision/OCR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1324D"/>
                </a:solidFill>
              </a:rPr>
              <a:t>LLM planner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1324D"/>
                </a:solidFill>
              </a:rPr>
              <a:t>Safety rules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534656" y="186537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88E5"/>
                </a:solidFill>
              </a:rPr>
              <a:t>BOOKING API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543800" y="2331720"/>
            <a:ext cx="14630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324D"/>
                </a:solidFill>
              </a:rPr>
              <a:t>Mock CUP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1324D"/>
                </a:solidFill>
              </a:rPr>
              <a:t>Slot engine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1324D"/>
                </a:solidFill>
              </a:rPr>
              <a:t>Availability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351008" y="202996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88E5"/>
                </a:solidFill>
              </a:rPr>
              <a:t>OUTPUT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405872" y="2514600"/>
            <a:ext cx="6858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324D"/>
                </a:solidFill>
              </a:rPr>
              <a:t>PDF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1324D"/>
                </a:solidFill>
              </a:rPr>
              <a:t>SMS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1324D"/>
                </a:solidFill>
              </a:rPr>
              <a:t>Email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520440" y="4773168"/>
            <a:ext cx="5212080" cy="713232"/>
          </a:xfrm>
          <a:prstGeom prst="roundRect">
            <a:avLst>
              <a:gd name="adj" fmla="val 6410"/>
            </a:avLst>
          </a:prstGeom>
          <a:solidFill>
            <a:srgbClr val="EAF7FF"/>
          </a:solidFill>
          <a:ln w="12700">
            <a:solidFill>
              <a:srgbClr val="CCE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22192" y="5010912"/>
            <a:ext cx="45720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E88E5"/>
                </a:solidFill>
              </a:rPr>
              <a:t>Guardrail: no diagnosi, no triage clinico, solo navigazione e prenotazione.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9436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8A8"/>
                </a:solidFill>
              </a:rPr>
              <a:t>CarePath · Hackathon concept · 7/10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Mercato: esistono pezzi simili, non lo stesso angolo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875"/>
                </a:solidFill>
              </a:rPr>
              <a:t>Differenziarsi come accessibility layer patient-first.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10744200" cy="621792"/>
          </a:xfrm>
          <a:prstGeom prst="roundRect">
            <a:avLst>
              <a:gd name="adj" fmla="val 5882"/>
            </a:avLst>
          </a:prstGeom>
          <a:solidFill>
            <a:srgbClr val="F8FBFE"/>
          </a:solidFill>
          <a:ln w="12700">
            <a:solidFill>
              <a:srgbClr val="DCE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15544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1324D"/>
                </a:solidFill>
              </a:rPr>
              <a:t>Hyro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697480" y="1554480"/>
            <a:ext cx="46634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212B"/>
                </a:solidFill>
              </a:rPr>
              <a:t>AI agent per scheduling e patient access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818120" y="1554480"/>
            <a:ext cx="2743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D6875"/>
                </a:solidFill>
              </a:rPr>
              <a:t>Booking automation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212848"/>
            <a:ext cx="10744200" cy="621792"/>
          </a:xfrm>
          <a:prstGeom prst="roundRect">
            <a:avLst>
              <a:gd name="adj" fmla="val 5882"/>
            </a:avLst>
          </a:prstGeom>
          <a:solidFill>
            <a:srgbClr val="F8FBFE"/>
          </a:solidFill>
          <a:ln w="12700">
            <a:solidFill>
              <a:srgbClr val="DCE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395728"/>
            <a:ext cx="15544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1324D"/>
                </a:solidFill>
              </a:rPr>
              <a:t>TuoTempo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697480" y="2395728"/>
            <a:ext cx="46634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212B"/>
                </a:solidFill>
              </a:rPr>
              <a:t>Prenotazione, voice assistant, call-center deflection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818120" y="2395728"/>
            <a:ext cx="2743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D6875"/>
                </a:solidFill>
              </a:rPr>
              <a:t>Omnicanalità per strutture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054096"/>
            <a:ext cx="10744200" cy="621792"/>
          </a:xfrm>
          <a:prstGeom prst="roundRect">
            <a:avLst>
              <a:gd name="adj" fmla="val 5882"/>
            </a:avLst>
          </a:prstGeom>
          <a:solidFill>
            <a:srgbClr val="F8FBFE"/>
          </a:solidFill>
          <a:ln w="12700">
            <a:solidFill>
              <a:srgbClr val="DCE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3236976"/>
            <a:ext cx="15544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1324D"/>
                </a:solidFill>
              </a:rPr>
              <a:t>Infermedica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697480" y="3236976"/>
            <a:ext cx="46634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212B"/>
                </a:solidFill>
              </a:rPr>
              <a:t>Symptom assessment + navigazione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818120" y="3236976"/>
            <a:ext cx="2743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D6875"/>
                </a:solidFill>
              </a:rPr>
              <a:t>Pre-triage e indirizzamento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3895344"/>
            <a:ext cx="10744200" cy="621792"/>
          </a:xfrm>
          <a:prstGeom prst="roundRect">
            <a:avLst>
              <a:gd name="adj" fmla="val 5882"/>
            </a:avLst>
          </a:prstGeom>
          <a:solidFill>
            <a:srgbClr val="F8FBFE"/>
          </a:solidFill>
          <a:ln w="12700">
            <a:solidFill>
              <a:srgbClr val="DCE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4078224"/>
            <a:ext cx="15544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1324D"/>
                </a:solidFill>
              </a:rPr>
              <a:t>Portali CUP / app regionali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697480" y="4078224"/>
            <a:ext cx="46634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212B"/>
                </a:solidFill>
              </a:rPr>
              <a:t>Prenotazione con ricetta e tessera sanitaria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818120" y="4078224"/>
            <a:ext cx="2743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D6875"/>
                </a:solidFill>
              </a:rPr>
              <a:t>Sistema transazionale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" y="4736592"/>
            <a:ext cx="10744200" cy="621792"/>
          </a:xfrm>
          <a:prstGeom prst="roundRect">
            <a:avLst>
              <a:gd name="adj" fmla="val 5882"/>
            </a:avLst>
          </a:prstGeom>
          <a:solidFill>
            <a:srgbClr val="EAFBF3"/>
          </a:solidFill>
          <a:ln w="12700">
            <a:solidFill>
              <a:srgbClr val="ABE4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4919472"/>
            <a:ext cx="15544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EAA76"/>
                </a:solidFill>
              </a:rPr>
              <a:t>CarePath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697480" y="4919472"/>
            <a:ext cx="46634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212B"/>
                </a:solidFill>
              </a:rPr>
              <a:t>Ricetta → traduzione → percorso accessibile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818120" y="4919472"/>
            <a:ext cx="2743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EAA76"/>
                </a:solidFill>
              </a:rPr>
              <a:t>Riduzione carico cognitivo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14400" y="5742432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88E5"/>
                </a:solidFill>
              </a:rPr>
              <a:t>Positioning: “Healthcare booking systems already exist. The problem is that not everyone can use them.”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9436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8A8"/>
                </a:solidFill>
              </a:rPr>
              <a:t>CarePath · Hackathon concept · 8/10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Storyboard demo live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875"/>
                </a:solidFill>
              </a:rPr>
              <a:t>Tre minuti, una storia, un contrasto evidente prima/dopo.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1874520" cy="420624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7F1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44168" y="1828800"/>
            <a:ext cx="502920" cy="502920"/>
          </a:xfrm>
          <a:prstGeom prst="ellipse">
            <a:avLst/>
          </a:prstGeom>
          <a:solidFill>
            <a:srgbClr val="FFB8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517904" y="1984248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14173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324D"/>
                </a:solidFill>
              </a:rPr>
              <a:t>1. Setup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141732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D6875"/>
                </a:solidFill>
              </a:rPr>
              <a:t>Anna, 74 anni, ha una prescrizione e vuole prenotare senza chiamare il CUP.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2926080" y="1600200"/>
            <a:ext cx="1874520" cy="420624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7F1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584448" y="1828800"/>
            <a:ext cx="502920" cy="502920"/>
          </a:xfrm>
          <a:prstGeom prst="ellipse">
            <a:avLst/>
          </a:prstGeom>
          <a:solidFill>
            <a:srgbClr val="FFB8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758184" y="1984248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154680" y="2606040"/>
            <a:ext cx="14173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324D"/>
                </a:solidFill>
              </a:rPr>
              <a:t>2. Pain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54680" y="3063240"/>
            <a:ext cx="141732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D6875"/>
                </a:solidFill>
              </a:rPr>
              <a:t>Nel form tradizionale si blocca su NRE, branca e struttura erogatrice.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166360" y="1600200"/>
            <a:ext cx="1874520" cy="420624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7F1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824728" y="1828800"/>
            <a:ext cx="502920" cy="50292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98464" y="1984248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394960" y="2606040"/>
            <a:ext cx="14173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324D"/>
                </a:solidFill>
              </a:rPr>
              <a:t>3. Magic moment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94960" y="3063240"/>
            <a:ext cx="141732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D6875"/>
                </a:solidFill>
              </a:rPr>
              <a:t>Fotografa la ricetta: CarePath riconosce la visita e compila i dati.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7406640" y="1600200"/>
            <a:ext cx="1874520" cy="420624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7F1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065008" y="1828800"/>
            <a:ext cx="502920" cy="50292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38744" y="1984248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635240" y="2606040"/>
            <a:ext cx="14173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324D"/>
                </a:solidFill>
              </a:rPr>
              <a:t>4. Decisione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635240" y="3063240"/>
            <a:ext cx="141732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D6875"/>
                </a:solidFill>
              </a:rPr>
              <a:t>Sceglie “prima data disponibile” o “più vicino a casa”.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9646920" y="1600200"/>
            <a:ext cx="1874520" cy="420624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7F1"/>
            </a:solidFill>
            <a:prstDash val="solid"/>
          </a:ln>
          <a:effectLst>
            <a:outerShdw blurRad="19050" dist="1016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305288" y="1828800"/>
            <a:ext cx="502920" cy="502920"/>
          </a:xfrm>
          <a:prstGeom prst="ellipse">
            <a:avLst/>
          </a:prstGeom>
          <a:solidFill>
            <a:srgbClr val="2EAA7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479024" y="1984248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875520" y="2606040"/>
            <a:ext cx="14173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324D"/>
                </a:solidFill>
              </a:rPr>
              <a:t>5. Successo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875520" y="3063240"/>
            <a:ext cx="141732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D6875"/>
                </a:solidFill>
              </a:rPr>
              <a:t>Riceve conferma chiara, cosa portare e link per annullare.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59436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8A8"/>
                </a:solidFill>
              </a:rPr>
              <a:t>CarePath · Hackathon concept · 9/10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324D"/>
          </a:solidFill>
          <a:ln w="12700">
            <a:solidFill>
              <a:srgbClr val="11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Perché dovrebbe vincere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41248" y="1828800"/>
            <a:ext cx="4754880" cy="987552"/>
          </a:xfrm>
          <a:prstGeom prst="roundRect">
            <a:avLst>
              <a:gd name="adj" fmla="val 4630"/>
            </a:avLst>
          </a:prstGeom>
          <a:solidFill>
            <a:srgbClr val="1A4464"/>
          </a:solidFill>
          <a:ln w="12700">
            <a:solidFill>
              <a:srgbClr val="2B5B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" y="19933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C4CB"/>
                </a:solidFill>
              </a:rPr>
              <a:t>Concreto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23591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EAF7"/>
                </a:solidFill>
              </a:rPr>
              <a:t>Un problema visibile e quotidiano.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27648" y="1828800"/>
            <a:ext cx="4754880" cy="987552"/>
          </a:xfrm>
          <a:prstGeom prst="roundRect">
            <a:avLst>
              <a:gd name="adj" fmla="val 4630"/>
            </a:avLst>
          </a:prstGeom>
          <a:solidFill>
            <a:srgbClr val="1A4464"/>
          </a:solidFill>
          <a:ln w="12700">
            <a:solidFill>
              <a:srgbClr val="2B5B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629400" y="19933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C4CB"/>
                </a:solidFill>
              </a:rPr>
              <a:t>Demo forte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29400" y="23591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EAF7"/>
                </a:solidFill>
              </a:rPr>
              <a:t>Prima/dopo comprensibile in 3 minuti.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41248" y="3383280"/>
            <a:ext cx="4754880" cy="987552"/>
          </a:xfrm>
          <a:prstGeom prst="roundRect">
            <a:avLst>
              <a:gd name="adj" fmla="val 4630"/>
            </a:avLst>
          </a:prstGeom>
          <a:solidFill>
            <a:srgbClr val="1A4464"/>
          </a:solidFill>
          <a:ln w="12700">
            <a:solidFill>
              <a:srgbClr val="2B5B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43000" y="35478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C4CB"/>
                </a:solidFill>
              </a:rPr>
              <a:t>AI utile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39136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EAF7"/>
                </a:solidFill>
              </a:rPr>
              <a:t>Non “chatbot generico”, ma riduzione di frizione reale.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27648" y="3383280"/>
            <a:ext cx="4754880" cy="987552"/>
          </a:xfrm>
          <a:prstGeom prst="roundRect">
            <a:avLst>
              <a:gd name="adj" fmla="val 4630"/>
            </a:avLst>
          </a:prstGeom>
          <a:solidFill>
            <a:srgbClr val="1A4464"/>
          </a:solidFill>
          <a:ln w="12700">
            <a:solidFill>
              <a:srgbClr val="2B5B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29400" y="35478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C4CB"/>
                </a:solidFill>
              </a:rPr>
              <a:t>Scalabile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29400" y="39136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EAF7"/>
                </a:solidFill>
              </a:rPr>
              <a:t>Applicabile a referti, pagamenti, farmaci, servizi pubblici.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" y="53492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CarePath non insegna al paziente come funziona il sistema.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Nasconde la complessità del sistema al paziente.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96112" y="6272784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EC1D8"/>
                </a:solidFill>
              </a:rPr>
              <a:t>Call to action: validare su 5 utenti + prototipo funzionante con 10 ricette mock.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1145</Words>
  <Application>Microsoft Macintosh PowerPoint</Application>
  <PresentationFormat>Widescreen</PresentationFormat>
  <Paragraphs>175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CarePath - Hackathon Concept</dc:title>
  <dc:subject>CarePath hackathon concept</dc:subject>
  <dc:creator>OpenAI</dc:creator>
  <cp:lastModifiedBy>Murgieri, Francesca</cp:lastModifiedBy>
  <cp:revision>2</cp:revision>
  <dcterms:created xsi:type="dcterms:W3CDTF">2026-09-14T08:19:44Z</dcterms:created>
  <dcterms:modified xsi:type="dcterms:W3CDTF">2026-09-14T08:29:34Z</dcterms:modified>
</cp:coreProperties>
</file>